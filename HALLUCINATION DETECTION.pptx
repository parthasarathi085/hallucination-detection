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0c1cb460ff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0c1cb460ff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30c1cb460ff_0_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30c1cb460ff_0_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0c1cb460ff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0c1cb460ff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30c1cb460ff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30c1cb460ff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30c1cb460ff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30c1cb460ff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0c1cb460ff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0c1cb460ff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0c1cb460ff_1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0c1cb460ff_1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0c1cb460ff_1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0c1cb460f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0c1cb460f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0c1cb460f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0c3f558a7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0c3f558a7a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0c3f558a7a_1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0c3f558a7a_1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0c1cb460ff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0c1cb460ff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0c1cb460ff_0_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0c1cb460ff_0_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matops-home.web.app/"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246475" y="1005550"/>
            <a:ext cx="8520600" cy="12870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b="1" lang="en" sz="4000" u="sng">
                <a:latin typeface="Times New Roman"/>
                <a:ea typeface="Times New Roman"/>
                <a:cs typeface="Times New Roman"/>
                <a:sym typeface="Times New Roman"/>
              </a:rPr>
              <a:t>HALLUCINATION DETECTION</a:t>
            </a:r>
            <a:endParaRPr b="1" sz="4000" u="sng">
              <a:latin typeface="Times New Roman"/>
              <a:ea typeface="Times New Roman"/>
              <a:cs typeface="Times New Roman"/>
              <a:sym typeface="Times New Roman"/>
            </a:endParaRPr>
          </a:p>
        </p:txBody>
      </p:sp>
      <p:sp>
        <p:nvSpPr>
          <p:cNvPr id="55" name="Google Shape;55;p13"/>
          <p:cNvSpPr txBox="1"/>
          <p:nvPr>
            <p:ph idx="1" type="subTitle"/>
          </p:nvPr>
        </p:nvSpPr>
        <p:spPr>
          <a:xfrm>
            <a:off x="3127150" y="3245700"/>
            <a:ext cx="5257800" cy="1922400"/>
          </a:xfrm>
          <a:prstGeom prst="rect">
            <a:avLst/>
          </a:prstGeom>
        </p:spPr>
        <p:txBody>
          <a:bodyPr anchorCtr="0" anchor="t" bIns="91425" lIns="91425" spcFirstLastPara="1" rIns="91425" wrap="square" tIns="91425">
            <a:normAutofit fontScale="55000"/>
          </a:bodyPr>
          <a:lstStyle/>
          <a:p>
            <a:pPr indent="0" lvl="0" marL="0" rtl="0" algn="ctr">
              <a:spcBef>
                <a:spcPts val="0"/>
              </a:spcBef>
              <a:spcAft>
                <a:spcPts val="0"/>
              </a:spcAft>
              <a:buNone/>
            </a:pPr>
            <a:r>
              <a:rPr lang="en"/>
              <a:t>                             </a:t>
            </a:r>
            <a:r>
              <a:rPr lang="en">
                <a:solidFill>
                  <a:schemeClr val="dk1"/>
                </a:solidFill>
              </a:rPr>
              <a:t> </a:t>
            </a:r>
            <a:r>
              <a:rPr lang="en" sz="2908">
                <a:solidFill>
                  <a:schemeClr val="dk1"/>
                </a:solidFill>
              </a:rPr>
              <a:t>Submitted</a:t>
            </a:r>
            <a:r>
              <a:rPr lang="en" sz="2908">
                <a:solidFill>
                  <a:schemeClr val="dk1"/>
                </a:solidFill>
              </a:rPr>
              <a:t> By:    PARTHASARATHI M</a:t>
            </a:r>
            <a:endParaRPr sz="2908">
              <a:solidFill>
                <a:schemeClr val="dk1"/>
              </a:solidFill>
            </a:endParaRPr>
          </a:p>
          <a:p>
            <a:pPr indent="0" lvl="0" marL="0" rtl="0" algn="ctr">
              <a:spcBef>
                <a:spcPts val="0"/>
              </a:spcBef>
              <a:spcAft>
                <a:spcPts val="0"/>
              </a:spcAft>
              <a:buNone/>
            </a:pPr>
            <a:r>
              <a:rPr lang="en" sz="2908">
                <a:solidFill>
                  <a:schemeClr val="dk1"/>
                </a:solidFill>
              </a:rPr>
              <a:t>                                           PRIYANKA P</a:t>
            </a:r>
            <a:endParaRPr sz="2908">
              <a:solidFill>
                <a:schemeClr val="dk1"/>
              </a:solidFill>
            </a:endParaRPr>
          </a:p>
          <a:p>
            <a:pPr indent="0" lvl="0" marL="0" rtl="0" algn="ctr">
              <a:spcBef>
                <a:spcPts val="0"/>
              </a:spcBef>
              <a:spcAft>
                <a:spcPts val="0"/>
              </a:spcAft>
              <a:buNone/>
            </a:pPr>
            <a:r>
              <a:rPr lang="en" sz="2908">
                <a:solidFill>
                  <a:schemeClr val="dk1"/>
                </a:solidFill>
              </a:rPr>
              <a:t>                                                    THAMIZHARASI K</a:t>
            </a:r>
            <a:endParaRPr sz="2908">
              <a:solidFill>
                <a:schemeClr val="dk1"/>
              </a:solidFill>
            </a:endParaRPr>
          </a:p>
          <a:p>
            <a:pPr indent="0" lvl="0" marL="0" rtl="0" algn="ctr">
              <a:spcBef>
                <a:spcPts val="0"/>
              </a:spcBef>
              <a:spcAft>
                <a:spcPts val="0"/>
              </a:spcAft>
              <a:buNone/>
            </a:pPr>
            <a:r>
              <a:rPr lang="en" sz="2908">
                <a:solidFill>
                  <a:schemeClr val="dk1"/>
                </a:solidFill>
              </a:rPr>
              <a:t>                                         SRINITHI A</a:t>
            </a:r>
            <a:endParaRPr sz="2908">
              <a:solidFill>
                <a:schemeClr val="dk1"/>
              </a:solidFill>
            </a:endParaRPr>
          </a:p>
          <a:p>
            <a:pPr indent="0" lvl="0" marL="0" rtl="0" algn="ctr">
              <a:spcBef>
                <a:spcPts val="0"/>
              </a:spcBef>
              <a:spcAft>
                <a:spcPts val="0"/>
              </a:spcAft>
              <a:buNone/>
            </a:pPr>
            <a:r>
              <a:rPr lang="en" sz="2908">
                <a:solidFill>
                  <a:schemeClr val="dk1"/>
                </a:solidFill>
              </a:rPr>
              <a:t>                                                KAVIYAVALLI A</a:t>
            </a:r>
            <a:endParaRPr sz="2908">
              <a:solidFill>
                <a:schemeClr val="dk1"/>
              </a:solidFill>
            </a:endParaRPr>
          </a:p>
          <a:p>
            <a:pPr indent="0" lvl="0" marL="0" rtl="0" algn="l">
              <a:spcBef>
                <a:spcPts val="0"/>
              </a:spcBef>
              <a:spcAft>
                <a:spcPts val="0"/>
              </a:spcAft>
              <a:buNone/>
            </a:pPr>
            <a:r>
              <a:t/>
            </a:r>
            <a:endParaRPr sz="2908"/>
          </a:p>
          <a:p>
            <a:pPr indent="0" lvl="0" marL="0" rtl="0" algn="l">
              <a:spcBef>
                <a:spcPts val="0"/>
              </a:spcBef>
              <a:spcAft>
                <a:spcPts val="0"/>
              </a:spcAft>
              <a:buNone/>
            </a:pPr>
            <a:r>
              <a:rPr lang="en"/>
              <a:t> </a:t>
            </a:r>
            <a:endParaRPr/>
          </a:p>
        </p:txBody>
      </p:sp>
      <p:sp>
        <p:nvSpPr>
          <p:cNvPr id="56" name="Google Shape;56;p13"/>
          <p:cNvSpPr txBox="1"/>
          <p:nvPr/>
        </p:nvSpPr>
        <p:spPr>
          <a:xfrm>
            <a:off x="2914050" y="2140150"/>
            <a:ext cx="3315900" cy="32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u="sng">
                <a:solidFill>
                  <a:schemeClr val="hlink"/>
                </a:solidFill>
                <a:latin typeface="Times New Roman"/>
                <a:ea typeface="Times New Roman"/>
                <a:cs typeface="Times New Roman"/>
                <a:sym typeface="Times New Roman"/>
                <a:hlinkClick r:id="rId3"/>
              </a:rPr>
              <a:t>https://matops-home.web.app/</a:t>
            </a:r>
            <a:endParaRPr sz="1800">
              <a:solidFill>
                <a:schemeClr val="lt2"/>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24927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TABLE OF CONTENT</a:t>
            </a:r>
            <a:endParaRPr b="1">
              <a:latin typeface="Times New Roman"/>
              <a:ea typeface="Times New Roman"/>
              <a:cs typeface="Times New Roman"/>
              <a:sym typeface="Times New Roman"/>
            </a:endParaRPr>
          </a:p>
        </p:txBody>
      </p:sp>
      <p:sp>
        <p:nvSpPr>
          <p:cNvPr id="62" name="Google Shape;62;p14"/>
          <p:cNvSpPr txBox="1"/>
          <p:nvPr>
            <p:ph idx="1" type="body"/>
          </p:nvPr>
        </p:nvSpPr>
        <p:spPr>
          <a:xfrm>
            <a:off x="735800" y="1174225"/>
            <a:ext cx="6985500" cy="3292500"/>
          </a:xfrm>
          <a:prstGeom prst="rect">
            <a:avLst/>
          </a:prstGeom>
        </p:spPr>
        <p:txBody>
          <a:bodyPr anchorCtr="0" anchor="t" bIns="91425" lIns="91425" spcFirstLastPara="1" rIns="91425" wrap="square" tIns="91425">
            <a:noAutofit/>
          </a:bodyPr>
          <a:lstStyle/>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Problem Statement</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Objec</a:t>
            </a:r>
            <a:r>
              <a:rPr lang="en" sz="2000">
                <a:solidFill>
                  <a:schemeClr val="dk1"/>
                </a:solidFill>
                <a:latin typeface="Times New Roman"/>
                <a:ea typeface="Times New Roman"/>
                <a:cs typeface="Times New Roman"/>
                <a:sym typeface="Times New Roman"/>
              </a:rPr>
              <a:t>tive</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Proposed Solution</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Flow </a:t>
            </a:r>
            <a:r>
              <a:rPr lang="en" sz="2000">
                <a:solidFill>
                  <a:schemeClr val="dk1"/>
                </a:solidFill>
                <a:latin typeface="Times New Roman"/>
                <a:ea typeface="Times New Roman"/>
                <a:cs typeface="Times New Roman"/>
                <a:sym typeface="Times New Roman"/>
              </a:rPr>
              <a:t> Diagram</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Architectural Diagram</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Features</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Engineering Orchestration</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Impact and Scalability</a:t>
            </a:r>
            <a:endParaRPr sz="2000">
              <a:solidFill>
                <a:schemeClr val="dk1"/>
              </a:solidFill>
              <a:latin typeface="Times New Roman"/>
              <a:ea typeface="Times New Roman"/>
              <a:cs typeface="Times New Roman"/>
              <a:sym typeface="Times New Roman"/>
            </a:endParaRPr>
          </a:p>
          <a:p>
            <a:pPr indent="-355600" lvl="0" marL="457200" rtl="0" algn="l">
              <a:lnSpc>
                <a:spcPct val="105000"/>
              </a:lnSpc>
              <a:spcBef>
                <a:spcPts val="0"/>
              </a:spcBef>
              <a:spcAft>
                <a:spcPts val="0"/>
              </a:spcAft>
              <a:buClr>
                <a:schemeClr val="dk1"/>
              </a:buClr>
              <a:buSzPts val="2000"/>
              <a:buFont typeface="Times New Roman"/>
              <a:buChar char="●"/>
            </a:pPr>
            <a:r>
              <a:rPr lang="en" sz="2000">
                <a:solidFill>
                  <a:schemeClr val="dk1"/>
                </a:solidFill>
                <a:latin typeface="Times New Roman"/>
                <a:ea typeface="Times New Roman"/>
                <a:cs typeface="Times New Roman"/>
                <a:sym typeface="Times New Roman"/>
              </a:rPr>
              <a:t>Output</a:t>
            </a:r>
            <a:endParaRPr sz="2000">
              <a:solidFill>
                <a:schemeClr val="dk1"/>
              </a:solidFill>
              <a:latin typeface="Times New Roman"/>
              <a:ea typeface="Times New Roman"/>
              <a:cs typeface="Times New Roman"/>
              <a:sym typeface="Times New Roman"/>
            </a:endParaRPr>
          </a:p>
          <a:p>
            <a:pPr indent="0" lvl="0" marL="0" rtl="0" algn="l">
              <a:lnSpc>
                <a:spcPct val="105000"/>
              </a:lnSpc>
              <a:spcBef>
                <a:spcPts val="1200"/>
              </a:spcBef>
              <a:spcAft>
                <a:spcPts val="0"/>
              </a:spcAft>
              <a:buNone/>
            </a:pPr>
            <a:r>
              <a:t/>
            </a:r>
            <a:endParaRPr sz="2000">
              <a:latin typeface="Times New Roman"/>
              <a:ea typeface="Times New Roman"/>
              <a:cs typeface="Times New Roman"/>
              <a:sym typeface="Times New Roman"/>
            </a:endParaRPr>
          </a:p>
          <a:p>
            <a:pPr indent="0" lvl="0" marL="0" rtl="0" algn="l">
              <a:lnSpc>
                <a:spcPct val="105000"/>
              </a:lnSpc>
              <a:spcBef>
                <a:spcPts val="1200"/>
              </a:spcBef>
              <a:spcAft>
                <a:spcPts val="1200"/>
              </a:spcAft>
              <a:buNone/>
            </a:pPr>
            <a:r>
              <a:t/>
            </a:r>
            <a:endParaRPr sz="2000">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idx="1" type="subTitle"/>
          </p:nvPr>
        </p:nvSpPr>
        <p:spPr>
          <a:xfrm>
            <a:off x="150975" y="313450"/>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solidFill>
                  <a:schemeClr val="dk1"/>
                </a:solidFill>
                <a:latin typeface="Times New Roman"/>
                <a:ea typeface="Times New Roman"/>
                <a:cs typeface="Times New Roman"/>
                <a:sym typeface="Times New Roman"/>
              </a:rPr>
              <a:t>PROBLEM STATEMENT</a:t>
            </a:r>
            <a:endParaRPr b="1">
              <a:solidFill>
                <a:schemeClr val="dk1"/>
              </a:solidFill>
              <a:latin typeface="Times New Roman"/>
              <a:ea typeface="Times New Roman"/>
              <a:cs typeface="Times New Roman"/>
              <a:sym typeface="Times New Roman"/>
            </a:endParaRPr>
          </a:p>
        </p:txBody>
      </p:sp>
      <p:sp>
        <p:nvSpPr>
          <p:cNvPr id="68" name="Google Shape;68;p15"/>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sp>
        <p:nvSpPr>
          <p:cNvPr id="69" name="Google Shape;69;p15"/>
          <p:cNvSpPr txBox="1"/>
          <p:nvPr/>
        </p:nvSpPr>
        <p:spPr>
          <a:xfrm>
            <a:off x="591975" y="1106050"/>
            <a:ext cx="8079600" cy="326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In the era of large language models (LLMs) and AI-driven content generation, ensuring the </a:t>
            </a:r>
            <a:r>
              <a:rPr b="1" i="1" lang="en" sz="2000">
                <a:solidFill>
                  <a:schemeClr val="dk1"/>
                </a:solidFill>
                <a:latin typeface="Times New Roman"/>
                <a:ea typeface="Times New Roman"/>
                <a:cs typeface="Times New Roman"/>
                <a:sym typeface="Times New Roman"/>
              </a:rPr>
              <a:t>accuracy and reliability of generated summaries</a:t>
            </a:r>
            <a:r>
              <a:rPr lang="en" sz="2000">
                <a:solidFill>
                  <a:schemeClr val="dk1"/>
                </a:solidFill>
                <a:latin typeface="Times New Roman"/>
                <a:ea typeface="Times New Roman"/>
                <a:cs typeface="Times New Roman"/>
                <a:sym typeface="Times New Roman"/>
              </a:rPr>
              <a:t> is a critical concern.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sz="2000">
                <a:solidFill>
                  <a:schemeClr val="dk1"/>
                </a:solidFill>
                <a:latin typeface="Times New Roman"/>
                <a:ea typeface="Times New Roman"/>
                <a:cs typeface="Times New Roman"/>
                <a:sym typeface="Times New Roman"/>
              </a:rPr>
              <a:t>Hallucinations,</a:t>
            </a:r>
            <a:r>
              <a:rPr lang="en" sz="2000">
                <a:solidFill>
                  <a:schemeClr val="dk1"/>
                </a:solidFill>
                <a:latin typeface="Times New Roman"/>
                <a:ea typeface="Times New Roman"/>
                <a:cs typeface="Times New Roman"/>
                <a:sym typeface="Times New Roman"/>
              </a:rPr>
              <a:t> or the inclusion of information in generated summaries that is not present or inferred from the source text, can </a:t>
            </a:r>
            <a:r>
              <a:rPr b="1" lang="en" sz="2000">
                <a:solidFill>
                  <a:schemeClr val="dk1"/>
                </a:solidFill>
                <a:latin typeface="Times New Roman"/>
                <a:ea typeface="Times New Roman"/>
                <a:cs typeface="Times New Roman"/>
                <a:sym typeface="Times New Roman"/>
              </a:rPr>
              <a:t>mislead users </a:t>
            </a:r>
            <a:r>
              <a:rPr lang="en" sz="2000">
                <a:solidFill>
                  <a:schemeClr val="dk1"/>
                </a:solidFill>
                <a:latin typeface="Times New Roman"/>
                <a:ea typeface="Times New Roman"/>
                <a:cs typeface="Times New Roman"/>
                <a:sym typeface="Times New Roman"/>
              </a:rPr>
              <a:t>and </a:t>
            </a:r>
            <a:r>
              <a:rPr b="1" lang="en" sz="2000">
                <a:solidFill>
                  <a:schemeClr val="dk1"/>
                </a:solidFill>
                <a:latin typeface="Times New Roman"/>
                <a:ea typeface="Times New Roman"/>
                <a:cs typeface="Times New Roman"/>
                <a:sym typeface="Times New Roman"/>
              </a:rPr>
              <a:t>diminish trust</a:t>
            </a:r>
            <a:r>
              <a:rPr lang="en" sz="2000">
                <a:solidFill>
                  <a:schemeClr val="dk1"/>
                </a:solidFill>
                <a:latin typeface="Times New Roman"/>
                <a:ea typeface="Times New Roman"/>
                <a:cs typeface="Times New Roman"/>
                <a:sym typeface="Times New Roman"/>
              </a:rPr>
              <a:t> in automated systems.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lang="en" sz="2000">
                <a:solidFill>
                  <a:schemeClr val="dk1"/>
                </a:solidFill>
                <a:latin typeface="Times New Roman"/>
                <a:ea typeface="Times New Roman"/>
                <a:cs typeface="Times New Roman"/>
                <a:sym typeface="Times New Roman"/>
              </a:rPr>
              <a:t>This problem necessitates a solution that can effectively detect and quantify hallucinations in text summaries.</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268200" y="271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a:latin typeface="Times New Roman"/>
                <a:ea typeface="Times New Roman"/>
                <a:cs typeface="Times New Roman"/>
                <a:sym typeface="Times New Roman"/>
              </a:rPr>
              <a:t>OBJECTIVE</a:t>
            </a:r>
            <a:endParaRPr b="1">
              <a:latin typeface="Times New Roman"/>
              <a:ea typeface="Times New Roman"/>
              <a:cs typeface="Times New Roman"/>
              <a:sym typeface="Times New Roman"/>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solidFill>
                  <a:schemeClr val="dk1"/>
                </a:solidFill>
                <a:latin typeface="Times New Roman"/>
                <a:ea typeface="Times New Roman"/>
                <a:cs typeface="Times New Roman"/>
                <a:sym typeface="Times New Roman"/>
              </a:rPr>
              <a:t>The objective of this project is to develop a system that, given a source text and a corresponding AI-generated summary, can determine </a:t>
            </a:r>
            <a:r>
              <a:rPr b="1" i="1" lang="en" sz="1700">
                <a:solidFill>
                  <a:schemeClr val="dk1"/>
                </a:solidFill>
                <a:latin typeface="Times New Roman"/>
                <a:ea typeface="Times New Roman"/>
                <a:cs typeface="Times New Roman"/>
                <a:sym typeface="Times New Roman"/>
              </a:rPr>
              <a:t>whether hallucinations are present within the summary</a:t>
            </a:r>
            <a:r>
              <a:rPr lang="en" sz="1700">
                <a:solidFill>
                  <a:schemeClr val="dk1"/>
                </a:solidFill>
                <a:latin typeface="Times New Roman"/>
                <a:ea typeface="Times New Roman"/>
                <a:cs typeface="Times New Roman"/>
                <a:sym typeface="Times New Roman"/>
              </a:rPr>
              <a:t>. </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700">
                <a:solidFill>
                  <a:schemeClr val="dk1"/>
                </a:solidFill>
                <a:latin typeface="Times New Roman"/>
                <a:ea typeface="Times New Roman"/>
                <a:cs typeface="Times New Roman"/>
                <a:sym typeface="Times New Roman"/>
              </a:rPr>
              <a:t>The system should not only detect the existence of hallucinations but also </a:t>
            </a:r>
            <a:r>
              <a:rPr b="1" i="1" lang="en" sz="1700">
                <a:solidFill>
                  <a:schemeClr val="dk1"/>
                </a:solidFill>
                <a:latin typeface="Times New Roman"/>
                <a:ea typeface="Times New Roman"/>
                <a:cs typeface="Times New Roman"/>
                <a:sym typeface="Times New Roman"/>
              </a:rPr>
              <a:t>identify the specific portions of the summary</a:t>
            </a:r>
            <a:r>
              <a:rPr lang="en" sz="1700">
                <a:solidFill>
                  <a:schemeClr val="dk1"/>
                </a:solidFill>
                <a:latin typeface="Times New Roman"/>
                <a:ea typeface="Times New Roman"/>
                <a:cs typeface="Times New Roman"/>
                <a:sym typeface="Times New Roman"/>
              </a:rPr>
              <a:t> that contain hallucinated content.</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700">
                <a:solidFill>
                  <a:schemeClr val="dk1"/>
                </a:solidFill>
                <a:latin typeface="Times New Roman"/>
                <a:ea typeface="Times New Roman"/>
                <a:cs typeface="Times New Roman"/>
                <a:sym typeface="Times New Roman"/>
              </a:rPr>
              <a:t>Beyond detection, the system should </a:t>
            </a:r>
            <a:r>
              <a:rPr b="1" i="1" lang="en" sz="1700">
                <a:solidFill>
                  <a:schemeClr val="dk1"/>
                </a:solidFill>
                <a:latin typeface="Times New Roman"/>
                <a:ea typeface="Times New Roman"/>
                <a:cs typeface="Times New Roman"/>
                <a:sym typeface="Times New Roman"/>
              </a:rPr>
              <a:t>highlight the specific hallucinated parts</a:t>
            </a:r>
            <a:r>
              <a:rPr lang="en" sz="1700">
                <a:solidFill>
                  <a:schemeClr val="dk1"/>
                </a:solidFill>
                <a:latin typeface="Times New Roman"/>
                <a:ea typeface="Times New Roman"/>
                <a:cs typeface="Times New Roman"/>
                <a:sym typeface="Times New Roman"/>
              </a:rPr>
              <a:t> within the summary. </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1700">
                <a:solidFill>
                  <a:schemeClr val="dk1"/>
                </a:solidFill>
                <a:latin typeface="Times New Roman"/>
                <a:ea typeface="Times New Roman"/>
                <a:cs typeface="Times New Roman"/>
                <a:sym typeface="Times New Roman"/>
              </a:rPr>
              <a:t>The system should provide a </a:t>
            </a:r>
            <a:r>
              <a:rPr b="1" lang="en" sz="1700">
                <a:solidFill>
                  <a:schemeClr val="dk1"/>
                </a:solidFill>
                <a:latin typeface="Times New Roman"/>
                <a:ea typeface="Times New Roman"/>
                <a:cs typeface="Times New Roman"/>
                <a:sym typeface="Times New Roman"/>
              </a:rPr>
              <a:t>score indicating the extent of hallucination present</a:t>
            </a:r>
            <a:r>
              <a:rPr lang="en" sz="1700">
                <a:solidFill>
                  <a:schemeClr val="dk1"/>
                </a:solidFill>
                <a:latin typeface="Times New Roman"/>
                <a:ea typeface="Times New Roman"/>
                <a:cs typeface="Times New Roman"/>
                <a:sym typeface="Times New Roman"/>
              </a:rPr>
              <a:t>, enabling a quantifiable assessment of the summary’s fidelity to the source text.</a:t>
            </a:r>
            <a:endParaRPr sz="1700">
              <a:solidFill>
                <a:schemeClr val="dk1"/>
              </a:solidFill>
              <a:latin typeface="Times New Roman"/>
              <a:ea typeface="Times New Roman"/>
              <a:cs typeface="Times New Roman"/>
              <a:sym typeface="Times New Roman"/>
            </a:endParaRPr>
          </a:p>
          <a:p>
            <a:pPr indent="0" lvl="0" marL="0" rtl="0" algn="l">
              <a:spcBef>
                <a:spcPts val="1200"/>
              </a:spcBef>
              <a:spcAft>
                <a:spcPts val="1200"/>
              </a:spcAft>
              <a:buNone/>
            </a:pPr>
            <a:r>
              <a:t/>
            </a:r>
            <a:endParaRPr sz="17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71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latin typeface="Times New Roman"/>
                <a:ea typeface="Times New Roman"/>
                <a:cs typeface="Times New Roman"/>
                <a:sym typeface="Times New Roman"/>
              </a:rPr>
              <a:t>PROPOSED SOLUTION</a:t>
            </a:r>
            <a:endParaRPr b="1" sz="2820">
              <a:latin typeface="Times New Roman"/>
              <a:ea typeface="Times New Roman"/>
              <a:cs typeface="Times New Roman"/>
              <a:sym typeface="Times New Roman"/>
            </a:endParaRPr>
          </a:p>
        </p:txBody>
      </p:sp>
      <p:sp>
        <p:nvSpPr>
          <p:cNvPr id="81" name="Google Shape;81;p17"/>
          <p:cNvSpPr txBox="1"/>
          <p:nvPr>
            <p:ph idx="1" type="body"/>
          </p:nvPr>
        </p:nvSpPr>
        <p:spPr>
          <a:xfrm>
            <a:off x="311700" y="10002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b="1" lang="en" sz="2000">
                <a:solidFill>
                  <a:schemeClr val="dk1"/>
                </a:solidFill>
                <a:latin typeface="Times New Roman"/>
                <a:ea typeface="Times New Roman"/>
                <a:cs typeface="Times New Roman"/>
                <a:sym typeface="Times New Roman"/>
              </a:rPr>
              <a:t>Use Natural Language Inference (NLI)</a:t>
            </a:r>
            <a:r>
              <a:rPr lang="en" sz="2000">
                <a:solidFill>
                  <a:schemeClr val="dk1"/>
                </a:solidFill>
                <a:latin typeface="Times New Roman"/>
                <a:ea typeface="Times New Roman"/>
                <a:cs typeface="Times New Roman"/>
                <a:sym typeface="Times New Roman"/>
              </a:rPr>
              <a:t> to classify summary content as consistent or hallucinated using a pre-trained RoBERTa model.</a:t>
            </a:r>
            <a:endParaRPr sz="20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en" sz="2000">
                <a:solidFill>
                  <a:schemeClr val="dk1"/>
                </a:solidFill>
                <a:latin typeface="Times New Roman"/>
                <a:ea typeface="Times New Roman"/>
                <a:cs typeface="Times New Roman"/>
                <a:sym typeface="Times New Roman"/>
              </a:rPr>
              <a:t>Extract Named Entities (NER)</a:t>
            </a:r>
            <a:r>
              <a:rPr lang="en" sz="2000">
                <a:solidFill>
                  <a:schemeClr val="dk1"/>
                </a:solidFill>
                <a:latin typeface="Times New Roman"/>
                <a:ea typeface="Times New Roman"/>
                <a:cs typeface="Times New Roman"/>
                <a:sym typeface="Times New Roman"/>
              </a:rPr>
              <a:t> with spaCy to identify and compare key facts like dates, locations, and quantities between the text and summary.</a:t>
            </a:r>
            <a:endParaRPr sz="20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en" sz="2000">
                <a:solidFill>
                  <a:schemeClr val="dk1"/>
                </a:solidFill>
                <a:latin typeface="Times New Roman"/>
                <a:ea typeface="Times New Roman"/>
                <a:cs typeface="Times New Roman"/>
                <a:sym typeface="Times New Roman"/>
              </a:rPr>
              <a:t>Highlight Inconsistencies</a:t>
            </a:r>
            <a:r>
              <a:rPr lang="en" sz="2000">
                <a:solidFill>
                  <a:schemeClr val="dk1"/>
                </a:solidFill>
                <a:latin typeface="Times New Roman"/>
                <a:ea typeface="Times New Roman"/>
                <a:cs typeface="Times New Roman"/>
                <a:sym typeface="Times New Roman"/>
              </a:rPr>
              <a:t> by marking hallucinated portions of the summary, enabling easy identification of discrepancies.</a:t>
            </a:r>
            <a:endParaRPr sz="20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rPr b="1" lang="en" sz="2000">
                <a:solidFill>
                  <a:schemeClr val="dk1"/>
                </a:solidFill>
                <a:latin typeface="Times New Roman"/>
                <a:ea typeface="Times New Roman"/>
                <a:cs typeface="Times New Roman"/>
                <a:sym typeface="Times New Roman"/>
              </a:rPr>
              <a:t>Quantify Hallucination</a:t>
            </a:r>
            <a:r>
              <a:rPr lang="en" sz="2000">
                <a:solidFill>
                  <a:schemeClr val="dk1"/>
                </a:solidFill>
                <a:latin typeface="Times New Roman"/>
                <a:ea typeface="Times New Roman"/>
                <a:cs typeface="Times New Roman"/>
                <a:sym typeface="Times New Roman"/>
              </a:rPr>
              <a:t> through label mapping to provide a measurable score, offering an objective evaluation of summary accuracy.</a:t>
            </a:r>
            <a:endParaRPr sz="2000">
              <a:solidFill>
                <a:schemeClr val="dk1"/>
              </a:solidFill>
              <a:latin typeface="Times New Roman"/>
              <a:ea typeface="Times New Roman"/>
              <a:cs typeface="Times New Roman"/>
              <a:sym typeface="Times New Roman"/>
            </a:endParaRPr>
          </a:p>
          <a:p>
            <a:pPr indent="0" lvl="0" marL="0" rtl="0" algn="just">
              <a:spcBef>
                <a:spcPts val="1200"/>
              </a:spcBef>
              <a:spcAft>
                <a:spcPts val="0"/>
              </a:spcAft>
              <a:buNone/>
            </a:pPr>
            <a:r>
              <a:t/>
            </a:r>
            <a:endParaRPr sz="2000">
              <a:solidFill>
                <a:schemeClr val="dk1"/>
              </a:solidFill>
              <a:latin typeface="Times New Roman"/>
              <a:ea typeface="Times New Roman"/>
              <a:cs typeface="Times New Roman"/>
              <a:sym typeface="Times New Roman"/>
            </a:endParaRPr>
          </a:p>
          <a:p>
            <a:pPr indent="0" lvl="0" marL="0" rtl="0" algn="just">
              <a:spcBef>
                <a:spcPts val="1200"/>
              </a:spcBef>
              <a:spcAft>
                <a:spcPts val="1200"/>
              </a:spcAft>
              <a:buNone/>
            </a:pPr>
            <a:r>
              <a:t/>
            </a:r>
            <a:endParaRPr sz="2000">
              <a:solidFill>
                <a:schemeClr val="dk1"/>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0" y="347975"/>
            <a:ext cx="8676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latin typeface="Times New Roman"/>
                <a:ea typeface="Times New Roman"/>
                <a:cs typeface="Times New Roman"/>
                <a:sym typeface="Times New Roman"/>
              </a:rPr>
              <a:t>FLOW DIAGRAM</a:t>
            </a:r>
            <a:endParaRPr b="1" sz="2820">
              <a:latin typeface="Times New Roman"/>
              <a:ea typeface="Times New Roman"/>
              <a:cs typeface="Times New Roman"/>
              <a:sym typeface="Times New Roman"/>
            </a:endParaRPr>
          </a:p>
        </p:txBody>
      </p:sp>
      <p:pic>
        <p:nvPicPr>
          <p:cNvPr id="87" name="Google Shape;87;p18"/>
          <p:cNvPicPr preferRelativeResize="0"/>
          <p:nvPr/>
        </p:nvPicPr>
        <p:blipFill>
          <a:blip r:embed="rId3">
            <a:alphaModFix/>
          </a:blip>
          <a:stretch>
            <a:fillRect/>
          </a:stretch>
        </p:blipFill>
        <p:spPr>
          <a:xfrm>
            <a:off x="423863" y="1271263"/>
            <a:ext cx="8296275" cy="3209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196650"/>
            <a:ext cx="8520600" cy="6759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a:latin typeface="Times New Roman"/>
                <a:ea typeface="Times New Roman"/>
                <a:cs typeface="Times New Roman"/>
                <a:sym typeface="Times New Roman"/>
              </a:rPr>
              <a:t>ARCHITECTURAL DIAGRAM</a:t>
            </a:r>
            <a:endParaRPr b="1">
              <a:latin typeface="Times New Roman"/>
              <a:ea typeface="Times New Roman"/>
              <a:cs typeface="Times New Roman"/>
              <a:sym typeface="Times New Roman"/>
            </a:endParaRPr>
          </a:p>
        </p:txBody>
      </p:sp>
      <p:pic>
        <p:nvPicPr>
          <p:cNvPr id="93" name="Google Shape;93;p19"/>
          <p:cNvPicPr preferRelativeResize="0"/>
          <p:nvPr/>
        </p:nvPicPr>
        <p:blipFill>
          <a:blip r:embed="rId3">
            <a:alphaModFix/>
          </a:blip>
          <a:stretch>
            <a:fillRect/>
          </a:stretch>
        </p:blipFill>
        <p:spPr>
          <a:xfrm>
            <a:off x="1302550" y="872550"/>
            <a:ext cx="6538901" cy="37538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latin typeface="Times New Roman"/>
                <a:ea typeface="Times New Roman"/>
                <a:cs typeface="Times New Roman"/>
                <a:sym typeface="Times New Roman"/>
              </a:rPr>
              <a:t>FEATURES</a:t>
            </a:r>
            <a:endParaRPr b="1" sz="2820">
              <a:latin typeface="Times New Roman"/>
              <a:ea typeface="Times New Roman"/>
              <a:cs typeface="Times New Roman"/>
              <a:sym typeface="Times New Roman"/>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81000" lvl="0"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User authentication via Google Sign-In</a:t>
            </a:r>
            <a:endParaRPr sz="2400">
              <a:solidFill>
                <a:schemeClr val="dk1"/>
              </a:solidFill>
              <a:latin typeface="Times New Roman"/>
              <a:ea typeface="Times New Roman"/>
              <a:cs typeface="Times New Roman"/>
              <a:sym typeface="Times New Roman"/>
            </a:endParaRPr>
          </a:p>
          <a:p>
            <a:pPr indent="-381000" lvl="0"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Real-time updates and data storage in Firestore</a:t>
            </a:r>
            <a:endParaRPr sz="2400">
              <a:solidFill>
                <a:schemeClr val="dk1"/>
              </a:solidFill>
              <a:latin typeface="Times New Roman"/>
              <a:ea typeface="Times New Roman"/>
              <a:cs typeface="Times New Roman"/>
              <a:sym typeface="Times New Roman"/>
            </a:endParaRPr>
          </a:p>
          <a:p>
            <a:pPr indent="-381000" lvl="0"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History tracking of user interactions</a:t>
            </a:r>
            <a:endParaRPr sz="2400">
              <a:solidFill>
                <a:schemeClr val="dk1"/>
              </a:solidFill>
              <a:latin typeface="Times New Roman"/>
              <a:ea typeface="Times New Roman"/>
              <a:cs typeface="Times New Roman"/>
              <a:sym typeface="Times New Roman"/>
            </a:endParaRPr>
          </a:p>
          <a:p>
            <a:pPr indent="-381000" lvl="0"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API integration for hallucination detection</a:t>
            </a:r>
            <a:endParaRPr sz="2400">
              <a:solidFill>
                <a:schemeClr val="dk1"/>
              </a:solidFill>
              <a:latin typeface="Times New Roman"/>
              <a:ea typeface="Times New Roman"/>
              <a:cs typeface="Times New Roman"/>
              <a:sym typeface="Times New Roman"/>
            </a:endParaRPr>
          </a:p>
          <a:p>
            <a:pPr indent="-381000" lvl="0" marL="914400" rtl="0" algn="l">
              <a:spcBef>
                <a:spcPts val="0"/>
              </a:spcBef>
              <a:spcAft>
                <a:spcPts val="0"/>
              </a:spcAft>
              <a:buClr>
                <a:schemeClr val="dk1"/>
              </a:buClr>
              <a:buSzPts val="2400"/>
              <a:buFont typeface="Times New Roman"/>
              <a:buChar char="●"/>
            </a:pPr>
            <a:r>
              <a:rPr lang="en" sz="2400">
                <a:solidFill>
                  <a:schemeClr val="dk1"/>
                </a:solidFill>
                <a:latin typeface="Times New Roman"/>
                <a:ea typeface="Times New Roman"/>
                <a:cs typeface="Times New Roman"/>
                <a:sym typeface="Times New Roman"/>
              </a:rPr>
              <a:t>User-friendly interface for input and results display</a:t>
            </a:r>
            <a:endParaRPr sz="2400">
              <a:solidFill>
                <a:schemeClr val="dk1"/>
              </a:solidFill>
              <a:latin typeface="Times New Roman"/>
              <a:ea typeface="Times New Roman"/>
              <a:cs typeface="Times New Roman"/>
              <a:sym typeface="Times New Roman"/>
            </a:endParaRPr>
          </a:p>
          <a:p>
            <a:pPr indent="0" lvl="0" marL="91440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latin typeface="Times New Roman"/>
                <a:ea typeface="Times New Roman"/>
                <a:cs typeface="Times New Roman"/>
                <a:sym typeface="Times New Roman"/>
              </a:rPr>
              <a:t>ENGINEERING ORCHESTRATION</a:t>
            </a:r>
            <a:endParaRPr b="1" sz="2820">
              <a:latin typeface="Times New Roman"/>
              <a:ea typeface="Times New Roman"/>
              <a:cs typeface="Times New Roman"/>
              <a:sym typeface="Times New Roman"/>
            </a:endParaRPr>
          </a:p>
        </p:txBody>
      </p:sp>
      <p:sp>
        <p:nvSpPr>
          <p:cNvPr id="105" name="Google Shape;105;p21"/>
          <p:cNvSpPr txBox="1"/>
          <p:nvPr>
            <p:ph idx="1" type="body"/>
          </p:nvPr>
        </p:nvSpPr>
        <p:spPr>
          <a:xfrm>
            <a:off x="311700" y="1152475"/>
            <a:ext cx="3692100" cy="3416400"/>
          </a:xfrm>
          <a:prstGeom prst="rect">
            <a:avLst/>
          </a:prstGeom>
        </p:spPr>
        <p:txBody>
          <a:bodyPr anchorCtr="0" anchor="t" bIns="91425" lIns="91425" spcFirstLastPara="1" rIns="91425" wrap="square" tIns="91425">
            <a:normAutofit fontScale="62500" lnSpcReduction="20000"/>
          </a:bodyPr>
          <a:lstStyle/>
          <a:p>
            <a:pPr indent="0" lvl="0" marL="0" rtl="0" algn="l">
              <a:spcBef>
                <a:spcPts val="0"/>
              </a:spcBef>
              <a:spcAft>
                <a:spcPts val="0"/>
              </a:spcAft>
              <a:buNone/>
            </a:pPr>
            <a:r>
              <a:rPr lang="en" sz="2440">
                <a:solidFill>
                  <a:schemeClr val="dk1"/>
                </a:solidFill>
                <a:latin typeface="Times New Roman"/>
                <a:ea typeface="Times New Roman"/>
                <a:cs typeface="Times New Roman"/>
                <a:sym typeface="Times New Roman"/>
              </a:rPr>
              <a:t>FRONTEND</a:t>
            </a:r>
            <a:endParaRPr sz="244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sz="2739">
                <a:solidFill>
                  <a:schemeClr val="dk1"/>
                </a:solidFill>
                <a:latin typeface="Times New Roman"/>
                <a:ea typeface="Times New Roman"/>
                <a:cs typeface="Times New Roman"/>
                <a:sym typeface="Times New Roman"/>
              </a:rPr>
              <a:t>The </a:t>
            </a:r>
            <a:r>
              <a:rPr b="1" lang="en" sz="2739">
                <a:solidFill>
                  <a:schemeClr val="dk1"/>
                </a:solidFill>
                <a:latin typeface="Times New Roman"/>
                <a:ea typeface="Times New Roman"/>
                <a:cs typeface="Times New Roman"/>
                <a:sym typeface="Times New Roman"/>
              </a:rPr>
              <a:t>React.js</a:t>
            </a:r>
            <a:r>
              <a:rPr lang="en" sz="2739">
                <a:solidFill>
                  <a:schemeClr val="dk1"/>
                </a:solidFill>
                <a:latin typeface="Times New Roman"/>
                <a:ea typeface="Times New Roman"/>
                <a:cs typeface="Times New Roman"/>
                <a:sym typeface="Times New Roman"/>
              </a:rPr>
              <a:t> frontend provides a dynamic and responsive user interface for inputting conversation and summary text, as well as displaying results in real-time. It integrates with the backend API for user authentication, processing, and result display.</a:t>
            </a:r>
            <a:endParaRPr sz="2739">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
        <p:nvSpPr>
          <p:cNvPr id="106" name="Google Shape;106;p21"/>
          <p:cNvSpPr txBox="1"/>
          <p:nvPr>
            <p:ph idx="1" type="body"/>
          </p:nvPr>
        </p:nvSpPr>
        <p:spPr>
          <a:xfrm>
            <a:off x="4661550" y="1228675"/>
            <a:ext cx="36921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None/>
            </a:pPr>
            <a:r>
              <a:rPr lang="en">
                <a:solidFill>
                  <a:schemeClr val="dk1"/>
                </a:solidFill>
                <a:latin typeface="Times New Roman"/>
                <a:ea typeface="Times New Roman"/>
                <a:cs typeface="Times New Roman"/>
                <a:sym typeface="Times New Roman"/>
              </a:rPr>
              <a:t>BACKEND</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lang="en">
                <a:solidFill>
                  <a:schemeClr val="dk1"/>
                </a:solidFill>
                <a:latin typeface="Times New Roman"/>
                <a:ea typeface="Times New Roman"/>
                <a:cs typeface="Times New Roman"/>
                <a:sym typeface="Times New Roman"/>
              </a:rPr>
              <a:t>The </a:t>
            </a:r>
            <a:r>
              <a:rPr b="1" lang="en">
                <a:solidFill>
                  <a:schemeClr val="dk1"/>
                </a:solidFill>
                <a:latin typeface="Times New Roman"/>
                <a:ea typeface="Times New Roman"/>
                <a:cs typeface="Times New Roman"/>
                <a:sym typeface="Times New Roman"/>
              </a:rPr>
              <a:t>Spring Boot</a:t>
            </a:r>
            <a:r>
              <a:rPr lang="en">
                <a:solidFill>
                  <a:schemeClr val="dk1"/>
                </a:solidFill>
                <a:latin typeface="Times New Roman"/>
                <a:ea typeface="Times New Roman"/>
                <a:cs typeface="Times New Roman"/>
                <a:sym typeface="Times New Roman"/>
              </a:rPr>
              <a:t> backend handles API requests from the frontend, processes hallucination detection using machine learning models, manages user authentication, and stores user data and history. It also ensures efficient communication between the frontend and database for a seamless user experience.</a:t>
            </a:r>
            <a:endParaRPr>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57150" rtl="0" algn="l">
              <a:spcBef>
                <a:spcPts val="0"/>
              </a:spcBef>
              <a:spcAft>
                <a:spcPts val="0"/>
              </a:spcAft>
              <a:buNone/>
            </a:pPr>
            <a:r>
              <a:rPr b="1" lang="en" u="sng">
                <a:latin typeface="Times New Roman"/>
                <a:ea typeface="Times New Roman"/>
                <a:cs typeface="Times New Roman"/>
                <a:sym typeface="Times New Roman"/>
              </a:rPr>
              <a:t>IMPACT</a:t>
            </a:r>
            <a:endParaRPr b="1" u="sng">
              <a:latin typeface="Times New Roman"/>
              <a:ea typeface="Times New Roman"/>
              <a:cs typeface="Times New Roman"/>
              <a:sym typeface="Times New Roman"/>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Enhancing AI Reliability and User Trust</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Improving User Safety</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Supporting Architecture </a:t>
            </a:r>
            <a:r>
              <a:rPr lang="en" sz="1600">
                <a:solidFill>
                  <a:schemeClr val="dk1"/>
                </a:solidFill>
                <a:latin typeface="Times New Roman"/>
                <a:ea typeface="Times New Roman"/>
                <a:cs typeface="Times New Roman"/>
                <a:sym typeface="Times New Roman"/>
              </a:rPr>
              <a:t>Diagrammatic</a:t>
            </a:r>
            <a:r>
              <a:rPr lang="en" sz="1600">
                <a:solidFill>
                  <a:schemeClr val="dk1"/>
                </a:solidFill>
                <a:latin typeface="Times New Roman"/>
                <a:ea typeface="Times New Roman"/>
                <a:cs typeface="Times New Roman"/>
                <a:sym typeface="Times New Roman"/>
              </a:rPr>
              <a:t> and Regulatory Compliance</a:t>
            </a:r>
            <a:endParaRPr sz="1600">
              <a:solidFill>
                <a:schemeClr val="dk1"/>
              </a:solidFill>
              <a:latin typeface="Times New Roman"/>
              <a:ea typeface="Times New Roman"/>
              <a:cs typeface="Times New Roman"/>
              <a:sym typeface="Times New Roman"/>
            </a:endParaRPr>
          </a:p>
          <a:p>
            <a:pPr indent="0" lvl="0" marL="457200" rtl="0" algn="l">
              <a:spcBef>
                <a:spcPts val="120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l">
              <a:spcBef>
                <a:spcPts val="1200"/>
              </a:spcBef>
              <a:spcAft>
                <a:spcPts val="0"/>
              </a:spcAft>
              <a:buNone/>
            </a:pPr>
            <a:r>
              <a:rPr b="1" lang="en" sz="2500" u="sng">
                <a:solidFill>
                  <a:schemeClr val="dk1"/>
                </a:solidFill>
                <a:latin typeface="Times New Roman"/>
                <a:ea typeface="Times New Roman"/>
                <a:cs typeface="Times New Roman"/>
                <a:sym typeface="Times New Roman"/>
              </a:rPr>
              <a:t>SCALABILITY</a:t>
            </a:r>
            <a:endParaRPr b="1" sz="2500" u="sng">
              <a:solidFill>
                <a:schemeClr val="dk1"/>
              </a:solidFill>
              <a:latin typeface="Times New Roman"/>
              <a:ea typeface="Times New Roman"/>
              <a:cs typeface="Times New Roman"/>
              <a:sym typeface="Times New Roman"/>
            </a:endParaRPr>
          </a:p>
          <a:p>
            <a:pPr indent="-330200" lvl="0" marL="457200" rtl="0" algn="l">
              <a:spcBef>
                <a:spcPts val="120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Adapting to Larger Datasets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Transferability Across Languages and Domains</a:t>
            </a:r>
            <a:endParaRPr sz="1600">
              <a:solidFill>
                <a:schemeClr val="dk1"/>
              </a:solidFill>
              <a:latin typeface="Times New Roman"/>
              <a:ea typeface="Times New Roman"/>
              <a:cs typeface="Times New Roman"/>
              <a:sym typeface="Times New Roman"/>
            </a:endParaRPr>
          </a:p>
          <a:p>
            <a:pPr indent="-330200" lvl="0" marL="457200" rtl="0" algn="l">
              <a:spcBef>
                <a:spcPts val="0"/>
              </a:spcBef>
              <a:spcAft>
                <a:spcPts val="0"/>
              </a:spcAft>
              <a:buClr>
                <a:schemeClr val="dk1"/>
              </a:buClr>
              <a:buSzPts val="1600"/>
              <a:buFont typeface="Times New Roman"/>
              <a:buChar char="●"/>
            </a:pPr>
            <a:r>
              <a:rPr lang="en" sz="1600">
                <a:solidFill>
                  <a:schemeClr val="dk1"/>
                </a:solidFill>
                <a:latin typeface="Times New Roman"/>
                <a:ea typeface="Times New Roman"/>
                <a:cs typeface="Times New Roman"/>
                <a:sym typeface="Times New Roman"/>
              </a:rPr>
              <a:t>Model Optimization for Real-Time Applications</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FRONTEND</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9" name="Google Shape;119;p23"/>
          <p:cNvPicPr preferRelativeResize="0"/>
          <p:nvPr/>
        </p:nvPicPr>
        <p:blipFill>
          <a:blip r:embed="rId3">
            <a:alphaModFix/>
          </a:blip>
          <a:stretch>
            <a:fillRect/>
          </a:stretch>
        </p:blipFill>
        <p:spPr>
          <a:xfrm>
            <a:off x="250725" y="911875"/>
            <a:ext cx="8642552" cy="40502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pic>
        <p:nvPicPr>
          <p:cNvPr id="124" name="Google Shape;124;p24"/>
          <p:cNvPicPr preferRelativeResize="0"/>
          <p:nvPr/>
        </p:nvPicPr>
        <p:blipFill>
          <a:blip r:embed="rId3">
            <a:alphaModFix/>
          </a:blip>
          <a:stretch>
            <a:fillRect/>
          </a:stretch>
        </p:blipFill>
        <p:spPr>
          <a:xfrm>
            <a:off x="304800" y="152400"/>
            <a:ext cx="8602133" cy="483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180925" y="52425"/>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b="1" lang="en" sz="2820">
                <a:latin typeface="Times New Roman"/>
                <a:ea typeface="Times New Roman"/>
                <a:cs typeface="Times New Roman"/>
                <a:sym typeface="Times New Roman"/>
              </a:rPr>
              <a:t>OUTPUT</a:t>
            </a:r>
            <a:endParaRPr b="1" sz="2820">
              <a:latin typeface="Times New Roman"/>
              <a:ea typeface="Times New Roman"/>
              <a:cs typeface="Times New Roman"/>
              <a:sym typeface="Times New Roman"/>
            </a:endParaRPr>
          </a:p>
        </p:txBody>
      </p:sp>
      <p:sp>
        <p:nvSpPr>
          <p:cNvPr id="130" name="Google Shape;130;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31" name="Google Shape;131;p25"/>
          <p:cNvPicPr preferRelativeResize="0"/>
          <p:nvPr/>
        </p:nvPicPr>
        <p:blipFill>
          <a:blip r:embed="rId3">
            <a:alphaModFix/>
          </a:blip>
          <a:stretch>
            <a:fillRect/>
          </a:stretch>
        </p:blipFill>
        <p:spPr>
          <a:xfrm>
            <a:off x="311700" y="690375"/>
            <a:ext cx="8465949" cy="43406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6"/>
          <p:cNvSpPr txBox="1"/>
          <p:nvPr>
            <p:ph type="title"/>
          </p:nvPr>
        </p:nvSpPr>
        <p:spPr>
          <a:xfrm>
            <a:off x="2758400" y="1943850"/>
            <a:ext cx="8520600" cy="1255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sz="4000">
                <a:latin typeface="Times New Roman"/>
                <a:ea typeface="Times New Roman"/>
                <a:cs typeface="Times New Roman"/>
                <a:sym typeface="Times New Roman"/>
              </a:rPr>
              <a:t>THANK YOU!</a:t>
            </a:r>
            <a:endParaRPr b="1" sz="40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